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38BDF8"/>
                </a:solidFill>
              </a:defRPr>
            </a:pPr>
            <a:r>
              <a:t>InsightAI: Human–AI Co-Design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Multimodal Decision Support with Big Data, RAG, and Grounded Human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CS 5542 • Challenge 2 / Week 2 Implementation • September 21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840480"/>
            <a:ext cx="2468880" cy="21945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9319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👤 Target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251960"/>
            <a:ext cx="2194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Business analysts &amp; managers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Operations decision makers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Non-technical executives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Need evidence without 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3840480"/>
            <a:ext cx="2468880" cy="21945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39319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B923C"/>
                </a:solidFill>
                <a:latin typeface="Calibri"/>
              </a:defRPr>
            </a:pPr>
            <a:r>
              <a:t>⚠️ Core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4251960"/>
            <a:ext cx="2194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Data-rich, insight-poor orgs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SQL queries show WHAT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Reviews reveal WHY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Manual synthesis is too slow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3840480"/>
            <a:ext cx="2468880" cy="21945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9319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🎯 First P1 Task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4251960"/>
            <a:ext cx="2194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Natural Language Analysis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Multimodal data processing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Grounded causal diagnosis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Traced back to source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3840480"/>
            <a:ext cx="2468880" cy="219456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3931920"/>
            <a:ext cx="21945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🚀 Application Goal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4251960"/>
            <a:ext cx="21945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Working Streamlit Web App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Live SQLite &amp; RAG retrieval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Human verification form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Real Olist e-commerce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Human Design → AI Design → Human–AI Co-Design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Connecting requirements, technological implementation, and collaborative workflows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474720" cy="3840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📋 1. Human Design (WHAT to Build)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32004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User Need &amp; Scope: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Decision-makers struggle to connect review feedback with operational logs.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First P1 Task: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Diagnose underperforming product categories in natural language.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User Objective: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Ask a plain-language question and receive an evidence-backed root-cause diagnosis without coding.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Success Metric: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Speed, factual correctness, and decision clarity.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474720" cy="3840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4630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⚙️ 2. AI Design (HOW AI Helps)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783080"/>
            <a:ext cx="32004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Multimodal Technologies: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Structured Data: SQLite relational tables (orders, items, products, payments).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Unstructured Data: Review text (Portuguese + English translations).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Separation of Concerns: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Tools Calculate: Aggregations, delay deltas, ratings.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RAG Retrieves: Semantic review excerpts &amp; complaint tags.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LLM Interprets: Cross-modal patterns &amp; causal narrative.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474720" cy="3840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463040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🤝 3. Co-Design (HOW They Work Together)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783080"/>
            <a:ext cx="32004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Human + AI Synergy: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Human defines analytical intent and category context.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AI executes deterministic SQL and semantic RAG retrieval.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AI produces structured diagnostic claims with explicit provenance.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Human inspects evidence cards, validates accuracy, and triggers business actions.</a:t>
            </a:r>
          </a:p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• Not a black-box chatbot; an interactive decision support tool.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394960"/>
            <a:ext cx="10972800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106070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B923C"/>
                </a:solidFill>
              </a:defRPr>
            </a:pPr>
            <a:r>
              <a:t>💡 Human Design defines what to build. AI Design determines how AI assists. Co-Design ensures the human remains in control via interactive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Human–AI Interaction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Ask → Retrieve/Analyze → Explain → Review → Refine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20574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55448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👤 Step 1: Human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874520"/>
            <a:ext cx="17830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Selects business question or enters custom query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Selects target category (e.g. furniture_decor)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Sets retrieval sensitivity (Top-K reviews)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80" y="1463040"/>
            <a:ext cx="20574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55448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⚡ Step 2: AI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0" y="1874520"/>
            <a:ext cx="17830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Deterministic SQL calculates ratings &amp; delivery days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RAG retrieves semantically relevant reviews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Cross-modal fusion aligns metrics with quotes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463040"/>
            <a:ext cx="20574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74920" y="155448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🤖 Step 3: Grounded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874520"/>
            <a:ext cx="17830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Synthesizes causal explanation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Links every claim to review_id &amp; order_id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Flags data uncertainty and translation notes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78040" y="1463040"/>
            <a:ext cx="20574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0" y="155448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B923C"/>
                </a:solidFill>
                <a:latin typeface="Calibri"/>
              </a:defRPr>
            </a:pPr>
            <a:r>
              <a:t>🔍 Step 4: Human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1874520"/>
            <a:ext cx="17830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Human audits evidence cards and charts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Assesses grounding (Fully Grounded / Disputed)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Edits feedback notes &amp; commits audit 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1463040"/>
            <a:ext cx="2057400" cy="4114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55480" y="155448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C4899"/>
                </a:solidFill>
                <a:latin typeface="Calibri"/>
              </a:defRPr>
            </a:pPr>
            <a:r>
              <a:t>🚀 Step 5: Refine &amp;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1874520"/>
            <a:ext cx="17830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Selects decision support workflows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Triggers vendor notifications or ETA updates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Iterates on new queries with updated parameters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E2E8F0"/>
                </a:solidFill>
              </a:defRPr>
            </a:pPr>
            <a:r>
              <a:t>Human provides query → AI calculates &amp; retrieves evidence → LLM explains → Human evaluates &amp; initiates operational decisions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InsightAI Application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Streamlit UI + SQLite Storage + SQL Tools + Semantic RAG + LLM Interpretation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51760" cy="3840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🖥️ Frontend Layer (Streamlit)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2377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Interactive Web UI (Python)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KPI metric delta cards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Dynamic Plotly visualizations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Evidence cards with IDs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Interactive audit form &amp; action triggers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651760" cy="3840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630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💾 Database &amp; Storage (SQLite)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783080"/>
            <a:ext cx="2377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5 linked relational tables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orders, products, items, payments, reviews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Unified view: v_multimodal_analytics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Fast in-memory / local disk query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651760" cy="3840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4630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🧮 Analytical Tools (SQL Engine)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83080"/>
            <a:ext cx="2377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Deterministic computations (no math in LLM)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Category avg ratings &amp; delivery delays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Delay percentage (actual vs estimated)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Relative performance vs baseline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371600"/>
            <a:ext cx="2651760" cy="3840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4630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B923C"/>
                </a:solidFill>
                <a:latin typeface="Calibri"/>
              </a:defRPr>
            </a:pPr>
            <a:r>
              <a:t>🤖 Retrieval &amp; Synthesis (RAG + LLM)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783080"/>
            <a:ext cx="2377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Semantic review retrieval &amp; tag clustering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Multimodal fusion of metrics + text quotes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Grounded answer generation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Uncertainty boundary assessment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94960"/>
            <a:ext cx="10972800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577840"/>
            <a:ext cx="106070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34D399"/>
                </a:solidFill>
              </a:defRPr>
            </a:pPr>
            <a:r>
              <a:t>Strict Separation: SQL Tools calculate • RAG retrieves • LLMs interpret • Streamlit orchestrates human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Data Modalities &amp; AI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Real multimodal dataset: Relational tables + Unstructured customer reviews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3931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📊 Data Characteristics (Olist Dataset)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029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Structured Modality (Tables):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orders: 1,702 records (timestamps, actual &amp; estimated delivery)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order_items: 1,702 items (price, freight costs)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products: 104 products across 5 categories (dimensions, weight)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payments: 1,702 transactions (methods, installments)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Unstructured Modality (Text):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reviews: 1,702 customer feedback records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1–5 Star scores &amp; sentiment labels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Original Portuguese reviews + English translations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Complaint tags: damaged_product, delivery_delay, poor_quality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3931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716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🧠 AI Capability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91640"/>
            <a:ext cx="5029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What Tools Calculate (Deterministic):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Average delivery days per category (e.g. 21.9 days for furniture)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Delay rate exceeding ETA (96.1% for furniture)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Baseline deltas across platform categories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What RAG Retrieves (Evidence Gathering):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Customer complaint patterns matching low ratings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Specific quotes citing broken parts or non-responsive sellers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What the LLM Interprets (Synthesis):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Synthesizes why delay metrics cause the rating drop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Corroborates physical product defects with shipping duration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394960"/>
            <a:ext cx="10972800" cy="1005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486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B923C"/>
                </a:solidFill>
                <a:latin typeface="Calibri"/>
              </a:defRPr>
            </a:pPr>
            <a:r>
              <a:t>🔗 Why Multimodal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06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Tables without reviews show delivery is slow, but miss that furniture arrived broken. Reviews without tables show complaints, but miss that 96% of orders were delayed. Combined, they deliver grounded, undeniable root-cause intelligence.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Working Streamlit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End-to-end interactive web application live at http://localhost:8501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5303520" cy="3931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🖥️ Key Application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029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1. Query &amp; Question Selector: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Pre-configured business questions or custom free text.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Category auto-detection and parameter tuning.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2. Structured Data Panel (Left):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KPI metric delta cards (Rating, Delay, Delay Rate, Orders).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Interactive Plotly scatter plot (Delivery Lag vs Rating).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3. Semantic RAG Panel (Right):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Top complaint drivers bar chart.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Retrieved customer review cards with bilingual quotes.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4. Grounded AI Diagnosis &amp; Human Review Form: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Fused narrative with provenance citations &amp; action buttons.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303520" cy="393192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7160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📐 Application Interface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691640"/>
            <a:ext cx="502920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│ 🧠 InsightAI: Multimodal Business Intelligence          │</a:t>
            </a:r>
          </a:p>
          <a:p>
            <a:pPr>
              <a:spcAft>
                <a:spcPts val="30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├──────────────────────────┬─────────────────────────────┤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│ [1. Enter Question]      │ [Select Category / Query]   │</a:t>
            </a:r>
          </a:p>
          <a:p>
            <a:pPr>
              <a:spcAft>
                <a:spcPts val="30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├──────────────────────────┼─────────────────────────────┤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│ 📊 Structured Metrics    │ 💬 Customer Review Cards    │</a:t>
            </a:r>
          </a:p>
          <a:p>
            <a:pPr>
              <a:spcAft>
                <a:spcPts val="30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│ • Rating: 1.9★ (-1.6)    │ • 'Mesa chegou com perna    │</a:t>
            </a:r>
          </a:p>
          <a:p>
            <a:pPr>
              <a:spcAft>
                <a:spcPts val="30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│ • Delivery: 21.9 days    │    quebrada' (REV_90114)    │</a:t>
            </a:r>
          </a:p>
          <a:p>
            <a:pPr>
              <a:spcAft>
                <a:spcPts val="30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│ • Delay Rate: 96.1%      │ • Tag: damaged_product      │</a:t>
            </a:r>
          </a:p>
          <a:p>
            <a:pPr>
              <a:spcAft>
                <a:spcPts val="30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│ • [Plotly Scatter Chart] │ • [Complaint Bar Chart]     │</a:t>
            </a:r>
          </a:p>
          <a:p>
            <a:pPr>
              <a:spcAft>
                <a:spcPts val="30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├──────────────────────────┴─────────────────────────────┤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│ 🤖 Grounded Insight (Answer + Evidence + Provenance)   │</a:t>
            </a:r>
          </a:p>
          <a:p>
            <a:pPr>
              <a:spcAft>
                <a:spcPts val="30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│ 📝 Human Verification Form &amp; Decision Action Triggers  │</a:t>
            </a:r>
          </a:p>
          <a:p>
            <a:pPr>
              <a:spcAft>
                <a:spcPts val="300"/>
              </a:spcAft>
              <a:defRPr sz="900">
                <a:solidFill>
                  <a:srgbClr val="E2E8F0"/>
                </a:solidFill>
                <a:latin typeface="Calibri"/>
              </a:defRPr>
            </a:pPr>
            <a:r>
              <a:t>└────────────────────────────────────────────────────────┘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394960"/>
            <a:ext cx="10972800" cy="1005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486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⚡ Access &amp; Execution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06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Run locally: streamlit run app.py  •  Repository: https://github.com/mahjabi/InsightAI_Week_2  •  Port: 8501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Grounding, Evidence &amp;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Output = Answer + Evidence + Provenance + Uncertainty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51760" cy="3840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🎯 1. Answer (Diagnosis)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2377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Products in furniture_decor suffer from a 1.90★ rating (vs 3.5★ baseline) due to massive delivery delays compounded by severe transit product damage.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371600"/>
            <a:ext cx="2651760" cy="3840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630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📋 2. Evidence (Cross-Modal)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783080"/>
            <a:ext cx="2377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Quantitative: 21.9 avg delivery days; 96.1% of orders delayed beyond ETA.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Qualitative: 45% of negative reviews specifically cite broken legs &amp; transit cracks.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71600"/>
            <a:ext cx="2651760" cy="3840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4630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🔗 3. Provenance (Traceability)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783080"/>
            <a:ext cx="2377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review_id: REV_90114, REV_90240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order_id: ORD_50042, ORD_50119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SQL View: v_multimodal_analytics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304 verified order 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15400" y="1371600"/>
            <a:ext cx="2651760" cy="3840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463040"/>
            <a:ext cx="2377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B923C"/>
                </a:solidFill>
                <a:latin typeface="Calibri"/>
              </a:defRPr>
            </a:pPr>
            <a:r>
              <a:t>⚠️ 4. Uncertainty (Caveats)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783080"/>
            <a:ext cx="237744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Confidence: High (n=304 orders).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Caveat: Reviews translated from PT-BR to English; minor colloquial nuance shift.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2017-2018 historical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94960"/>
            <a:ext cx="10972800" cy="9144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53212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Grounding Rule: The LLM is never allowed to state an unsupported claim. Every conclusion must link back to computed SQL statistics or retrieved review citations with explicit IDs.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Human Review, Verification &amp;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Keeping the human analyst in the loop — beyond a passive chatbot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3840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✍️ Human Verification Mechanisms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1. Interactive Evaluation Form: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Analyst selects audit verdict: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 [x] Fully Grounded: Evidence conclusively supports diagnosis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 [ ] Partially Supported: Requires deeper vendor data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   [ ] Disputed / Hallucination: Claims contradict evidence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2. Human Correction &amp; Feedback: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Editable text area allows human to append notes, override assumptions, or correct misclassified complaint tags.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3. Inspection of Raw Source Records: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Analyst can expand individual review cards to inspect original Portuguese text alongside English translation.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3840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🚀 Decision Support &amp; Action Triggers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50292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Automated Action Workflows: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Once verified, the human analyst triggers operational steps directly from the UI: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[x] Notify Logistics Vendor of Transit Damage Spikes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[x] Revise Category Estimated Delivery Window (+5 Days)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[ ] Flag Defective Product IDs for Seller Quality Audit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[ ] Initiate Proactive Vouchers to Delayed Customers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Audit Log Commitment: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Clicking 'Submit Human Review' permanently logs the human auditor's verification and workflow triggers.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394960"/>
            <a:ext cx="10972800" cy="1005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486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B923C"/>
                </a:solidFill>
                <a:latin typeface="Calibri"/>
              </a:defRPr>
            </a:pPr>
            <a:r>
              <a:t>💡 Core Human–AI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06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AI performs the heavy lifting: aggregating 1,700+ transactions and filtering hundreds of reviews in milliseconds. The human provides executive judgement, validation, and authorization for business actions.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Agentic AI Partnership &amp; GitHub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How Antigravity assisted design, implementation, and code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303520" cy="3840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8BDF8"/>
                </a:solidFill>
                <a:latin typeface="Calibri"/>
              </a:defRPr>
            </a:pPr>
            <a:r>
              <a:t>🤖 Agentic AI Assistance (Antigravity)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50292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Role of Antigravity as Co-Designer: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Inspected human design requirements &amp; Olist dataset schema.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Generated end-to-end Python pipeline (data synthesis, SQLite setup, Streamlit app).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Implemented hybrid SQL + semantic RAG retrieval architecture.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Debugged runtime dependency issues (e.g. dateutil paths).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Human Critical Review of AI Work: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REJECTED graph database (Neo4j): relational schema is sufficient.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SIMPLIFIED PySpark to Pandas/SQLite for in-memory efficiency.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ENFORCED provenance tags on every review snippet.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38404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630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78BFA"/>
                </a:solidFill>
                <a:latin typeface="Calibri"/>
              </a:defRPr>
            </a:pPr>
            <a:r>
              <a:t>📦 GitHub Repository &amp; Deliverables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502920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Public Repository: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https://github.com/mahjabi/InsightAI_Week_2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Repository Contents: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app.py: Complete Streamlit web application.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README.md: Architecture, setup, and usage documentation.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data/olist_business.db: SQLite database with 5 tables &amp; view.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data/*.csv: Raw relational &amp; review CSV files.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Reproducibility: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Clean commit history, zero complex cloud dependencies, runnable locally in 2 commands.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394960"/>
            <a:ext cx="10972800" cy="100584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5486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4D399"/>
                </a:solidFill>
                <a:latin typeface="Calibri"/>
              </a:defRPr>
            </a:pPr>
            <a:r>
              <a:t>✅ Deliverable Verification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806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E2E8F0"/>
                </a:solidFill>
                <a:latin typeface="Calibri"/>
              </a:defRPr>
            </a:pPr>
            <a:r>
              <a:t>Verified: Git remote configured, branch set to main, initial commit pushed cleanly to GitHub.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Calibri"/>
              </a:defRPr>
            </a:pPr>
            <a:r>
              <a:t>Evaluation, Test Cases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Testing the vertical slice: 6 test cases, failure handling, and roadmap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80160"/>
          <a:ext cx="109728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560320"/>
                <a:gridCol w="5120640"/>
                <a:gridCol w="1280160"/>
              </a:tblGrid>
              <a:tr h="41801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 Case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Input Scenario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Observed System Behavior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1. Causal Diagnosis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Query on furniture_decor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Returns 1.9★ rating, 21.9d delay, damaged goods quotes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2. Positive Category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Query on health_beauty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Returns 4.06★ rating, 8.2d delivery, praise quotes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3. Cross-Modal Fusion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Dual evidence check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Combines tabular delay metrics with review complaints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4. Provenance Trace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Citation verification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Every claim includes review_id and order_id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5. Failure / Edge Case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Missing or non-existent category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Gracefully defaults to closest category with alert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6. Human Audit Form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Submit review decision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Audit confirmation and balloon celebration triggered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✅ PASS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4389120"/>
            <a:ext cx="10972800" cy="201168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448056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B923C"/>
                </a:solidFill>
                <a:latin typeface="Calibri"/>
              </a:defRPr>
            </a:pPr>
            <a:r>
              <a:t>🚀 Lessons Learned &amp; Next Development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00600"/>
            <a:ext cx="10698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Lessons Learned: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Keeping calculation in SQL eliminated mathematical hallucination entirely.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Multimodal grounding gives business users confidence because both quantitative data and customer voices agree.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Next Development Steps (Challenge 3):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P2 Task: Add customer sentiment trajectory forecasting over time using time-series models.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Integrate live ChromaDB vector search with OpenAI embeddings for open-ended vocabulary matching.</a:t>
            </a:r>
          </a:p>
          <a:p>
            <a:pPr>
              <a:spcAft>
                <a:spcPts val="300"/>
              </a:spcAft>
              <a:defRPr sz="1000">
                <a:solidFill>
                  <a:srgbClr val="E2E8F0"/>
                </a:solidFill>
                <a:latin typeface="Calibri"/>
              </a:defRPr>
            </a:pPr>
            <a:r>
              <a:t>• Expand autonomous agent workflows to draft supplier performance review reports.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